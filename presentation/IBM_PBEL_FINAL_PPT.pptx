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8DAAD-8B25-43CA-A6E0-EEBDF93DDF0D}" v="4" dt="2026-08-31T14:19:08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ukdaryuvraj8@gmail.com" userId="ba0e44f9df971a01" providerId="LiveId" clId="{2B309F30-92E1-4476-9361-AB37D21FD3B0}"/>
    <pc:docChg chg="custSel addSld modSld">
      <pc:chgData name="talukdaryuvraj8@gmail.com" userId="ba0e44f9df971a01" providerId="LiveId" clId="{2B309F30-92E1-4476-9361-AB37D21FD3B0}" dt="2026-08-31T14:19:30.615" v="131" actId="255"/>
      <pc:docMkLst>
        <pc:docMk/>
      </pc:docMkLst>
      <pc:sldChg chg="modSp mod">
        <pc:chgData name="talukdaryuvraj8@gmail.com" userId="ba0e44f9df971a01" providerId="LiveId" clId="{2B309F30-92E1-4476-9361-AB37D21FD3B0}" dt="2026-08-31T14:19:30.615" v="131" actId="255"/>
        <pc:sldMkLst>
          <pc:docMk/>
          <pc:sldMk cId="0" sldId="267"/>
        </pc:sldMkLst>
        <pc:spChg chg="mod">
          <ac:chgData name="talukdaryuvraj8@gmail.com" userId="ba0e44f9df971a01" providerId="LiveId" clId="{2B309F30-92E1-4476-9361-AB37D21FD3B0}" dt="2026-08-31T14:19:30.615" v="131" actId="255"/>
          <ac:spMkLst>
            <pc:docMk/>
            <pc:sldMk cId="0" sldId="267"/>
            <ac:spMk id="12" creationId="{00000000-0000-0000-0000-000000000000}"/>
          </ac:spMkLst>
        </pc:spChg>
      </pc:sldChg>
      <pc:sldChg chg="addSp delSp modSp new mod">
        <pc:chgData name="talukdaryuvraj8@gmail.com" userId="ba0e44f9df971a01" providerId="LiveId" clId="{2B309F30-92E1-4476-9361-AB37D21FD3B0}" dt="2026-08-28T04:03:24.743" v="127" actId="113"/>
        <pc:sldMkLst>
          <pc:docMk/>
          <pc:sldMk cId="161921908" sldId="268"/>
        </pc:sldMkLst>
        <pc:spChg chg="add mod">
          <ac:chgData name="talukdaryuvraj8@gmail.com" userId="ba0e44f9df971a01" providerId="LiveId" clId="{2B309F30-92E1-4476-9361-AB37D21FD3B0}" dt="2026-08-28T04:03:24.743" v="127" actId="113"/>
          <ac:spMkLst>
            <pc:docMk/>
            <pc:sldMk cId="161921908" sldId="268"/>
            <ac:spMk id="3" creationId="{D188FB0E-A674-1E7B-EC18-FB6ED44580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3749039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749039" y="6355080"/>
            <a:ext cx="3749039" cy="502920"/>
          </a:xfrm>
          <a:prstGeom prst="rect">
            <a:avLst/>
          </a:prstGeom>
          <a:solidFill>
            <a:srgbClr val="1C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79" y="6355080"/>
            <a:ext cx="4690872" cy="502920"/>
          </a:xfrm>
          <a:prstGeom prst="rect">
            <a:avLst/>
          </a:prstGeom>
          <a:solidFill>
            <a:srgbClr val="204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FDCDC"/>
                </a:solidFill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Smart Home</a:t>
            </a:r>
            <a:br/>
            <a:r>
              <a:t>Energy Consumption Prediction</a:t>
            </a:r>
          </a:p>
          <a:p>
            <a:pPr>
              <a:defRPr sz="1700">
                <a:solidFill>
                  <a:srgbClr val="C8DAE0"/>
                </a:solidFill>
              </a:defRPr>
            </a:pPr>
            <a:r>
              <a:t>Predicting household appliance energy consumption using 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5623560" cy="1417320"/>
          </a:xfrm>
          <a:prstGeom prst="roundRect">
            <a:avLst/>
          </a:prstGeom>
          <a:solidFill>
            <a:srgbClr val="1A3048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64008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306975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rPr lang="en-IN" sz="1400" dirty="0">
                <a:solidFill>
                  <a:schemeClr val="bg2"/>
                </a:solidFill>
              </a:rPr>
              <a:t>YUVRAJ TALUKDAR</a:t>
            </a:r>
          </a:p>
          <a:p>
            <a:pPr>
              <a:defRPr sz="1600" b="1">
                <a:solidFill>
                  <a:srgbClr val="12233A"/>
                </a:solidFill>
              </a:defRPr>
            </a:pPr>
            <a:r>
              <a:rPr lang="en-IN" dirty="0">
                <a:solidFill>
                  <a:schemeClr val="bg2"/>
                </a:solidFill>
              </a:rPr>
              <a:t>Roll No-2313018062 </a:t>
            </a:r>
            <a:br>
              <a:rPr lang="en-IN" dirty="0">
                <a:solidFill>
                  <a:schemeClr val="bg2"/>
                </a:solidFill>
              </a:rPr>
            </a:br>
            <a:r>
              <a:rPr lang="en-IN" dirty="0" err="1">
                <a:solidFill>
                  <a:schemeClr val="bg2"/>
                </a:solidFill>
              </a:rPr>
              <a:t>Btech</a:t>
            </a:r>
            <a:r>
              <a:rPr lang="en-IN" dirty="0">
                <a:solidFill>
                  <a:schemeClr val="bg2"/>
                </a:solidFill>
              </a:rPr>
              <a:t>(CSE),7</a:t>
            </a:r>
            <a:r>
              <a:rPr lang="en-IN" baseline="30000" dirty="0">
                <a:solidFill>
                  <a:schemeClr val="bg2"/>
                </a:solidFill>
              </a:rPr>
              <a:t>th</a:t>
            </a:r>
            <a:r>
              <a:rPr lang="en-IN" dirty="0">
                <a:solidFill>
                  <a:schemeClr val="bg2"/>
                </a:solidFill>
              </a:rPr>
              <a:t> </a:t>
            </a:r>
            <a:r>
              <a:rPr lang="en-IN" dirty="0" err="1">
                <a:solidFill>
                  <a:schemeClr val="bg2"/>
                </a:solidFill>
              </a:rPr>
              <a:t>sem</a:t>
            </a:r>
            <a:endParaRPr lang="en-IN" dirty="0">
              <a:solidFill>
                <a:schemeClr val="bg2"/>
              </a:solidFill>
            </a:endParaRPr>
          </a:p>
          <a:p>
            <a:pPr>
              <a:defRPr sz="1600" b="1">
                <a:solidFill>
                  <a:srgbClr val="12233A"/>
                </a:solidFill>
              </a:defRPr>
            </a:pPr>
            <a:endParaRPr lang="en-IN" baseline="30000" dirty="0">
              <a:solidFill>
                <a:schemeClr val="bg2"/>
              </a:solidFill>
            </a:endParaRPr>
          </a:p>
          <a:p>
            <a:pPr>
              <a:defRPr sz="1600" b="1">
                <a:solidFill>
                  <a:srgbClr val="12233A"/>
                </a:solidFill>
              </a:defRPr>
            </a:pPr>
            <a:r>
              <a:rPr lang="en-IN" sz="2000" baseline="30000" dirty="0">
                <a:solidFill>
                  <a:schemeClr val="bg2"/>
                </a:solidFill>
              </a:rPr>
              <a:t>GIRIJANANDA CHOWDHURY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11480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FDCDC"/>
                </a:solidFill>
              </a:defRPr>
            </a:pPr>
            <a:r>
              <a:t>REGRESSION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4 Models  •  3 Metrics  •  1 Selected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Why appliance energy prediction is a meaningful machine learning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214884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2148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92807"/>
            <a:ext cx="498348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F3A"/>
                </a:solidFill>
              </a:defRPr>
            </a:pPr>
            <a:r>
              <a:t>Household appliance energy use changes with indoor temperature, humidity, lighting, weather and other sensor measurements. Manually estimating consumption from all these factors is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2148840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64008" cy="214884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39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92807"/>
            <a:ext cx="49377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F3A"/>
                </a:solidFill>
              </a:defRPr>
            </a:pPr>
            <a:r>
              <a:t>A predictive model can estimate appliance energy demand, reveal consumption patterns and support smarter household energy monitoring and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10881360" cy="1325880"/>
          </a:xfrm>
          <a:prstGeom prst="roundRect">
            <a:avLst/>
          </a:prstGeom>
          <a:solidFill>
            <a:srgbClr val="E5EDF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64008" cy="132588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931920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ML FORMULATION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61688"/>
            <a:ext cx="105613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F3A"/>
                </a:solidFill>
              </a:defRPr>
            </a:pPr>
            <a:r>
              <a:t>Supervised learning  →  Regression  →  Target: Appliances (Wh)</a:t>
            </a:r>
            <a:br/>
            <a:r>
              <a:t>The model learns from known sensor measurements and their corresponding appliance-energy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What the complete system is designed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69164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691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</a:defRPr>
            </a:pPr>
            <a:r>
              <a:t>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92807"/>
            <a:ext cx="31089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Estimate household appliance energy consumption from sensor and environmental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29000" cy="1691640"/>
          </a:xfrm>
          <a:prstGeom prst="roundRect">
            <a:avLst/>
          </a:prstGeom>
          <a:solidFill>
            <a:srgbClr val="E5EDF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169164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3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</a:defRPr>
            </a:pPr>
            <a: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92807"/>
            <a:ext cx="31089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Clean, inspect and transform the dataset so it is ready for machine learning.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25880"/>
            <a:ext cx="3429000" cy="1691640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19" y="1325880"/>
            <a:ext cx="64008" cy="169164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9" y="146303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</a:defRPr>
            </a:pPr>
            <a: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1892807"/>
            <a:ext cx="31089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Train four regression approaches and evaluate them fairly on the same held-out test 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3429000" cy="1691640"/>
          </a:xfrm>
          <a:prstGeom prst="roundRect">
            <a:avLst/>
          </a:prstGeom>
          <a:solidFill>
            <a:srgbClr val="FAE7E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383280"/>
            <a:ext cx="64008" cy="1691640"/>
          </a:xfrm>
          <a:prstGeom prst="rect">
            <a:avLst/>
          </a:prstGeom>
          <a:solidFill>
            <a:srgbClr val="B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52044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</a:defRPr>
            </a:pPr>
            <a:r>
              <a:t>INTERPRET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950208"/>
            <a:ext cx="31089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Use performance metrics, feature importance and error analysis to understand model behaviour.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383280"/>
            <a:ext cx="3429000" cy="169164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383280"/>
            <a:ext cx="64008" cy="1691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52044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</a:defRPr>
            </a:pPr>
            <a:r>
              <a:t>DEMONSTRATE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950208"/>
            <a:ext cx="31089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Show a final prediction on unseen/held-out data and clearly communicate the result.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UCI Appliances Energy Prediction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37560" cy="141732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</a:defRPr>
            </a:pPr>
            <a:r>
              <a:t>19,735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01368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Total 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234440"/>
            <a:ext cx="3337560" cy="1417320"/>
          </a:xfrm>
          <a:prstGeom prst="roundRect">
            <a:avLst/>
          </a:prstGeom>
          <a:solidFill>
            <a:srgbClr val="E5EDF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234440"/>
            <a:ext cx="64008" cy="141732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716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</a:defRPr>
            </a:pPr>
            <a:r>
              <a:t>29 →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01368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Columns after time feature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234440"/>
            <a:ext cx="3337560" cy="1417320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234440"/>
            <a:ext cx="64008" cy="141732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5" y="13716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33A"/>
                </a:solidFill>
              </a:defRPr>
            </a:pPr>
            <a:r>
              <a:t>Appliances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1801368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Continuous target variable (Wh)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53035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971800"/>
            <a:ext cx="64008" cy="2240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108960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IMPORTANT 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538728"/>
            <a:ext cx="498348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F3A"/>
                </a:solidFill>
              </a:defRPr>
            </a:pPr>
            <a:r>
              <a:t>• Indoor temperature (T1, T2, …)</a:t>
            </a:r>
            <a:br/>
            <a:r>
              <a:t>• Indoor relative humidity (RH_1, RH_2, …)</a:t>
            </a:r>
            <a:br/>
            <a:r>
              <a:t>• Lighting and outdoor conditions</a:t>
            </a:r>
            <a:br/>
            <a:r>
              <a:t>• Pressure, windspeed, visibility and dew point</a:t>
            </a:r>
            <a:br/>
            <a:r>
              <a:t>• Engineered time features: hour, day, month, weekday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71800"/>
            <a:ext cx="53035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71800"/>
            <a:ext cx="64008" cy="224028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108960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TARGET &amp; DATA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38728"/>
            <a:ext cx="498348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F3A"/>
                </a:solidFill>
              </a:defRPr>
            </a:pPr>
            <a:r>
              <a:t>Target: Appliances — household appliance energy consumption.</a:t>
            </a:r>
            <a:br/>
            <a:br/>
            <a:r>
              <a:t>80% training: 15,788 rows</a:t>
            </a:r>
            <a:br/>
            <a:r>
              <a:t>20% testing: 3,947 rows</a:t>
            </a:r>
            <a:br/>
            <a:br/>
            <a:r>
              <a:t>The same test set is used for every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Preparing reliable inputs before model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651760" cy="182880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64008" cy="1828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01  Inspect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Checked rows, columns, data types and overall dataset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80160"/>
            <a:ext cx="2651760" cy="1828800"/>
          </a:xfrm>
          <a:prstGeom prst="roundRect">
            <a:avLst/>
          </a:prstGeom>
          <a:solidFill>
            <a:srgbClr val="E5EDF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280160"/>
            <a:ext cx="64008" cy="182880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417319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02  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47088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Checked null values; no missing values were found in the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80160"/>
            <a:ext cx="2651760" cy="1828800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280160"/>
            <a:ext cx="64008" cy="182880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417319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03  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47088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Checked duplicate rows; no duplicates were found.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280160"/>
            <a:ext cx="2651760" cy="1828800"/>
          </a:xfrm>
          <a:prstGeom prst="roundRect">
            <a:avLst/>
          </a:prstGeom>
          <a:solidFill>
            <a:srgbClr val="FAE7E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280160"/>
            <a:ext cx="64008" cy="1828800"/>
          </a:xfrm>
          <a:prstGeom prst="rect">
            <a:avLst/>
          </a:prstGeom>
          <a:solidFill>
            <a:srgbClr val="B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19" y="1417319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04  Date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1847088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Converted the date field into a proper datetime format for feature extraction.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0440"/>
            <a:ext cx="2651760" cy="182880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520440"/>
            <a:ext cx="64008" cy="1828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657600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05  Feature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87368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Created hour, day, month and weekday features from the 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520440"/>
            <a:ext cx="2651760" cy="1828800"/>
          </a:xfrm>
          <a:prstGeom prst="roundRect">
            <a:avLst/>
          </a:prstGeom>
          <a:solidFill>
            <a:srgbClr val="E5EDF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74720" y="3520440"/>
            <a:ext cx="64008" cy="182880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0" y="3657600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06  Feature/target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087368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Separated X (input features) from y (Appliances target).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520440"/>
            <a:ext cx="2651760" cy="1828800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520440"/>
            <a:ext cx="64008" cy="182880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657600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07  Train/test split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087368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Used an 80/20 split with a fixed random state for reproducibility.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520440"/>
            <a:ext cx="2651760" cy="1828800"/>
          </a:xfrm>
          <a:prstGeom prst="roundRect">
            <a:avLst/>
          </a:prstGeom>
          <a:solidFill>
            <a:srgbClr val="FAE7E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35440" y="3520440"/>
            <a:ext cx="64008" cy="1828800"/>
          </a:xfrm>
          <a:prstGeom prst="rect">
            <a:avLst/>
          </a:prstGeom>
          <a:solidFill>
            <a:srgbClr val="B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19" y="3657600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08  Scaling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19" y="4087368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Applied StandardScaler where required, fitting on training data and transforming test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EDA &amp; Visual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Five visual checks used to understand the target and relationships in the data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61872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3502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188720"/>
            <a:ext cx="10012680" cy="713232"/>
          </a:xfrm>
          <a:prstGeom prst="roundRect">
            <a:avLst/>
          </a:prstGeom>
          <a:solidFill>
            <a:srgbClr val="F2F7F8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17320" y="1188720"/>
            <a:ext cx="64008" cy="71323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325880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A"/>
                </a:solidFill>
              </a:defRPr>
            </a:pPr>
            <a:r>
              <a:t>Target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55648"/>
            <a:ext cx="9692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Most appliance-energy observations are concentrated at lower values, with fewer very high-consumption cases.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2677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121408"/>
            <a:ext cx="10012680" cy="713232"/>
          </a:xfrm>
          <a:prstGeom prst="roundRect">
            <a:avLst/>
          </a:prstGeom>
          <a:solidFill>
            <a:srgbClr val="F2F7F8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17320" y="2121408"/>
            <a:ext cx="64008" cy="713232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0200" y="2258568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A"/>
                </a:solidFill>
              </a:defRPr>
            </a:pPr>
            <a:r>
              <a:t>Correlation 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88336"/>
            <a:ext cx="9692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Several sensor/environment variables show different strengths of relationship with appliance consumption.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127248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2004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3054096"/>
            <a:ext cx="10012680" cy="713232"/>
          </a:xfrm>
          <a:prstGeom prst="roundRect">
            <a:avLst/>
          </a:prstGeom>
          <a:solidFill>
            <a:srgbClr val="F2F7F8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417320" y="3054096"/>
            <a:ext cx="64008" cy="713232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0200" y="3191256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A"/>
                </a:solidFill>
              </a:defRPr>
            </a:pPr>
            <a:r>
              <a:t>Temperature relationship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621024"/>
            <a:ext cx="9692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Appliance use does not follow a simple one-variable linear pattern with indoor temperature.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4059936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13308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3986784"/>
            <a:ext cx="10012680" cy="713232"/>
          </a:xfrm>
          <a:prstGeom prst="roundRect">
            <a:avLst/>
          </a:prstGeom>
          <a:solidFill>
            <a:srgbClr val="F2F7F8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417320" y="3986784"/>
            <a:ext cx="64008" cy="713232"/>
          </a:xfrm>
          <a:prstGeom prst="rect">
            <a:avLst/>
          </a:prstGeom>
          <a:solidFill>
            <a:srgbClr val="B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200" y="4123944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A"/>
                </a:solidFill>
              </a:defRPr>
            </a:pPr>
            <a:r>
              <a:t>Time-based consumption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553712"/>
            <a:ext cx="9692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Energy use changes over time, reflecting varying household usage conditions.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4992624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06577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20" y="4919472"/>
            <a:ext cx="10012680" cy="713232"/>
          </a:xfrm>
          <a:prstGeom prst="roundRect">
            <a:avLst/>
          </a:prstGeom>
          <a:solidFill>
            <a:srgbClr val="F2F7F8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417320" y="4919472"/>
            <a:ext cx="64008" cy="71323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505663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A"/>
                </a:solidFill>
              </a:defRPr>
            </a:pPr>
            <a:r>
              <a:t>Actual vs Predicted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486400"/>
            <a:ext cx="9692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F3A"/>
                </a:solidFill>
              </a:defRPr>
            </a:pPr>
            <a:r>
              <a:t>The comparison plot shows how closely model predictions follow the actual appliance-energy values.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0240" y="5897880"/>
            <a:ext cx="8321040" cy="365760"/>
          </a:xfrm>
          <a:prstGeom prst="roundRect">
            <a:avLst/>
          </a:prstGeom>
          <a:solidFill>
            <a:srgbClr val="FAE7E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20240" y="5897880"/>
            <a:ext cx="64008" cy="365760"/>
          </a:xfrm>
          <a:prstGeom prst="rect">
            <a:avLst/>
          </a:prstGeom>
          <a:solidFill>
            <a:srgbClr val="B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03120" y="6035040"/>
            <a:ext cx="8001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2233A"/>
                </a:solidFill>
              </a:defRPr>
            </a:pPr>
            <a:r>
              <a:t>Place the corresponding notebook plots with these interpretations in the final visual version.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6464808"/>
            <a:ext cx="800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2F3A"/>
                </a:solidFill>
              </a:defRPr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ML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End-to-end pipeline from raw data to final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188720" cy="1051560"/>
          </a:xfrm>
          <a:prstGeom prst="roundRect">
            <a:avLst/>
          </a:prstGeom>
          <a:solidFill>
            <a:srgbClr val="E0F3E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59" y="210312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233A"/>
                </a:solidFill>
              </a:defRPr>
            </a:pPr>
            <a:r>
              <a:t>DATASET</a:t>
            </a:r>
          </a:p>
        </p:txBody>
      </p:sp>
      <p:sp>
        <p:nvSpPr>
          <p:cNvPr id="7" name="Chevron 6"/>
          <p:cNvSpPr/>
          <p:nvPr/>
        </p:nvSpPr>
        <p:spPr>
          <a:xfrm>
            <a:off x="1517904" y="2176272"/>
            <a:ext cx="256032" cy="347472"/>
          </a:xfrm>
          <a:prstGeom prst="chevron">
            <a:avLst/>
          </a:prstGeom>
          <a:solidFill>
            <a:srgbClr val="AA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01368" y="1828800"/>
            <a:ext cx="1188720" cy="1051560"/>
          </a:xfrm>
          <a:prstGeom prst="roundRect">
            <a:avLst/>
          </a:prstGeom>
          <a:solidFill>
            <a:srgbClr val="E5EDF7"/>
          </a:solidFill>
          <a:ln>
            <a:solidFill>
              <a:srgbClr val="2B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47088" y="210312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233A"/>
                </a:solidFill>
              </a:defRPr>
            </a:pPr>
            <a:r>
              <a:t>CLEANING</a:t>
            </a:r>
          </a:p>
        </p:txBody>
      </p:sp>
      <p:sp>
        <p:nvSpPr>
          <p:cNvPr id="10" name="Chevron 9"/>
          <p:cNvSpPr/>
          <p:nvPr/>
        </p:nvSpPr>
        <p:spPr>
          <a:xfrm>
            <a:off x="2999232" y="2176272"/>
            <a:ext cx="256032" cy="347472"/>
          </a:xfrm>
          <a:prstGeom prst="chevron">
            <a:avLst/>
          </a:prstGeom>
          <a:solidFill>
            <a:srgbClr val="AA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82696" y="1828800"/>
            <a:ext cx="1188720" cy="1051560"/>
          </a:xfrm>
          <a:prstGeom prst="roundRect">
            <a:avLst/>
          </a:prstGeom>
          <a:solidFill>
            <a:srgbClr val="E0F3EF"/>
          </a:solidFill>
          <a:ln>
            <a:solidFill>
              <a:srgbClr val="DA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28416" y="210312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233A"/>
                </a:solidFill>
              </a:defRPr>
            </a:pPr>
            <a:r>
              <a:t>EDA</a:t>
            </a:r>
          </a:p>
        </p:txBody>
      </p:sp>
      <p:sp>
        <p:nvSpPr>
          <p:cNvPr id="13" name="Chevron 12"/>
          <p:cNvSpPr/>
          <p:nvPr/>
        </p:nvSpPr>
        <p:spPr>
          <a:xfrm>
            <a:off x="4480560" y="2176272"/>
            <a:ext cx="256032" cy="347472"/>
          </a:xfrm>
          <a:prstGeom prst="chevron">
            <a:avLst/>
          </a:prstGeom>
          <a:solidFill>
            <a:srgbClr val="AA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64024" y="1828800"/>
            <a:ext cx="1188720" cy="1051560"/>
          </a:xfrm>
          <a:prstGeom prst="roundRect">
            <a:avLst/>
          </a:prstGeom>
          <a:solidFill>
            <a:srgbClr val="E5EDF7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9744" y="210312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233A"/>
                </a:solidFill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5961888" y="2176272"/>
            <a:ext cx="256032" cy="347472"/>
          </a:xfrm>
          <a:prstGeom prst="chevron">
            <a:avLst/>
          </a:prstGeom>
          <a:solidFill>
            <a:srgbClr val="AA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45352" y="1828800"/>
            <a:ext cx="1188720" cy="1051560"/>
          </a:xfrm>
          <a:prstGeom prst="roundRect">
            <a:avLst/>
          </a:prstGeom>
          <a:solidFill>
            <a:srgbClr val="E0F3EF"/>
          </a:solidFill>
          <a:ln>
            <a:solidFill>
              <a:srgbClr val="2B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210312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233A"/>
                </a:solidFill>
              </a:defRPr>
            </a:pPr>
            <a:r>
              <a:t>TRAIN / TEST</a:t>
            </a:r>
          </a:p>
        </p:txBody>
      </p:sp>
      <p:sp>
        <p:nvSpPr>
          <p:cNvPr id="19" name="Chevron 18"/>
          <p:cNvSpPr/>
          <p:nvPr/>
        </p:nvSpPr>
        <p:spPr>
          <a:xfrm>
            <a:off x="7443216" y="2176272"/>
            <a:ext cx="256032" cy="347472"/>
          </a:xfrm>
          <a:prstGeom prst="chevron">
            <a:avLst/>
          </a:prstGeom>
          <a:solidFill>
            <a:srgbClr val="AA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26680" y="1828800"/>
            <a:ext cx="1188720" cy="1051560"/>
          </a:xfrm>
          <a:prstGeom prst="roundRect">
            <a:avLst/>
          </a:prstGeom>
          <a:solidFill>
            <a:srgbClr val="E5EDF7"/>
          </a:solidFill>
          <a:ln>
            <a:solidFill>
              <a:srgbClr val="DA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210312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233A"/>
                </a:solidFill>
              </a:defRPr>
            </a:pPr>
            <a:r>
              <a:t>MODEL</a:t>
            </a:r>
            <a:br/>
            <a:r>
              <a:t>TRAINING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8924544" y="2176272"/>
            <a:ext cx="256032" cy="347472"/>
          </a:xfrm>
          <a:prstGeom prst="chevron">
            <a:avLst/>
          </a:prstGeom>
          <a:solidFill>
            <a:srgbClr val="AA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208008" y="1828800"/>
            <a:ext cx="1188720" cy="1051560"/>
          </a:xfrm>
          <a:prstGeom prst="roundRect">
            <a:avLst/>
          </a:prstGeom>
          <a:solidFill>
            <a:srgbClr val="E0F3EF"/>
          </a:solidFill>
          <a:ln>
            <a:solidFill>
              <a:srgbClr val="BC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210312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233A"/>
                </a:solidFill>
              </a:defRPr>
            </a:pPr>
            <a:r>
              <a:t>EVALUATION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10405872" y="2176272"/>
            <a:ext cx="256032" cy="347472"/>
          </a:xfrm>
          <a:prstGeom prst="chevron">
            <a:avLst/>
          </a:prstGeom>
          <a:solidFill>
            <a:srgbClr val="AA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689336" y="1828800"/>
            <a:ext cx="1188720" cy="1051560"/>
          </a:xfrm>
          <a:prstGeom prst="roundRect">
            <a:avLst/>
          </a:prstGeom>
          <a:solidFill>
            <a:srgbClr val="E5EDF7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35056" y="210312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233A"/>
                </a:solidFill>
              </a:defRPr>
            </a:pPr>
            <a:r>
              <a:t>PREDICTION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657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" y="3657600"/>
            <a:ext cx="64008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379476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224528"/>
            <a:ext cx="2834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Sensor + environmental features</a:t>
            </a:r>
            <a:br/>
            <a:r>
              <a:t>Engineered time features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3657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26280" y="3657600"/>
            <a:ext cx="64008" cy="123444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60" y="379476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224528"/>
            <a:ext cx="2834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Four regression models</a:t>
            </a:r>
            <a:br/>
            <a:r>
              <a:t>Same held-out test 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657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60" y="3657600"/>
            <a:ext cx="64008" cy="123444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379476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24528"/>
            <a:ext cx="2834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MAE + RMSE + R²</a:t>
            </a:r>
            <a:br/>
            <a:r>
              <a:t>Select best + interpret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Models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Four regression approaches with different learning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03520" cy="1874519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187451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01  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498348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A baseline model that assumes the target can be explained using a weighted combination of the input features.</a:t>
            </a:r>
            <a:br/>
            <a:br/>
            <a:r>
              <a:t>Strength: simple and interpretable.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94960" cy="1874519"/>
          </a:xfrm>
          <a:prstGeom prst="roundRect">
            <a:avLst/>
          </a:prstGeom>
          <a:solidFill>
            <a:srgbClr val="E5EDF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64008" cy="1874519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07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02  RANDOM FOREST REGRESSOR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01368"/>
            <a:ext cx="507492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Combines many decision trees and averages their predictions. It can capture nonlinear relationships and interactions between features.</a:t>
            </a:r>
            <a:br/>
            <a:br/>
            <a:r>
              <a:t>Selected as the best test-set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20440"/>
            <a:ext cx="5303520" cy="1874519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520440"/>
            <a:ext cx="64008" cy="1874519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03  GRADIENT BOOSTING REGRESSOR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87368"/>
            <a:ext cx="498348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Builds trees sequentially, with later trees focusing on errors made by earlier trees.</a:t>
            </a:r>
            <a:br/>
            <a:br/>
            <a:r>
              <a:t>Useful for learning complex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20440"/>
            <a:ext cx="5394960" cy="1874519"/>
          </a:xfrm>
          <a:prstGeom prst="roundRect">
            <a:avLst/>
          </a:prstGeom>
          <a:solidFill>
            <a:srgbClr val="FAE7E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520440"/>
            <a:ext cx="64008" cy="1874519"/>
          </a:xfrm>
          <a:prstGeom prst="rect">
            <a:avLst/>
          </a:prstGeom>
          <a:solidFill>
            <a:srgbClr val="B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657600"/>
            <a:ext cx="507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04  ARTIFICIAL NEURAL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87368"/>
            <a:ext cx="507492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Uses layers of connected neurons and learned weights to model nonlinear relationships.</a:t>
            </a:r>
            <a:br/>
            <a:br/>
            <a:r>
              <a:t>A flexible alternative to tree-based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Model Evaluation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Lower MAE/RMSE is better; higher R² is better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74980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52.57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91.12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0.170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0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32.05</a:t>
                      </a:r>
                    </a:p>
                  </a:txBody>
                  <a:tcPr>
                    <a:solidFill>
                      <a:srgbClr val="E0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67.37</a:t>
                      </a:r>
                    </a:p>
                  </a:txBody>
                  <a:tcPr>
                    <a:solidFill>
                      <a:srgbClr val="E0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0.546</a:t>
                      </a:r>
                    </a:p>
                  </a:txBody>
                  <a:tcPr>
                    <a:solidFill>
                      <a:srgbClr val="E0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83.00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Artificial Neural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62F3A"/>
                          </a:solidFill>
                        </a:defRPr>
                      </a:pPr>
                      <a:r>
                        <a:t>0.390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58200" y="1325880"/>
            <a:ext cx="3108960" cy="150876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58200" y="1325880"/>
            <a:ext cx="64008" cy="150876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1463039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BEST OVERALL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892807"/>
            <a:ext cx="27889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Random Forest</a:t>
            </a:r>
            <a:br/>
            <a:r>
              <a:t>MAE 32.05</a:t>
            </a:r>
            <a:br/>
            <a:r>
              <a:t>RMSE 67.37</a:t>
            </a:r>
            <a:br/>
            <a:r>
              <a:t>R² 0.546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063240"/>
            <a:ext cx="3108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063240"/>
            <a:ext cx="64008" cy="1783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3200400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WHY IT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630168"/>
            <a:ext cx="27889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It has the lowest MAE and RMSE and the strongest R² on the same test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10927080" cy="777240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5074920"/>
            <a:ext cx="64008" cy="77724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5212080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A"/>
                </a:solidFill>
              </a:defRPr>
            </a:pPr>
            <a: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4184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2F3A"/>
                </a:solidFill>
              </a:defRPr>
            </a:pPr>
            <a:r>
              <a:t>Random Forest gives the best overall test-set performance, but the remaining error and train/test gap show that the model can still be improved.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Prediction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Final prediction using a held-out test sample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310896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3108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INPUT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92807"/>
            <a:ext cx="3063240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F3A"/>
                </a:solidFill>
              </a:defRPr>
            </a:pPr>
            <a:r>
              <a:t>A single sample from the held-out test set is supplied to the trained Random Forest model.</a:t>
            </a:r>
            <a:br/>
            <a:br/>
            <a:r>
              <a:t>The model receives the sample's sensor and environmental feature values.</a:t>
            </a:r>
          </a:p>
        </p:txBody>
      </p:sp>
      <p:sp>
        <p:nvSpPr>
          <p:cNvPr id="9" name="Chevron 8"/>
          <p:cNvSpPr/>
          <p:nvPr/>
        </p:nvSpPr>
        <p:spPr>
          <a:xfrm>
            <a:off x="4315968" y="2395728"/>
            <a:ext cx="960120" cy="68580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40680" y="1325880"/>
            <a:ext cx="2834640" cy="3108960"/>
          </a:xfrm>
          <a:prstGeom prst="roundRect">
            <a:avLst/>
          </a:prstGeom>
          <a:solidFill>
            <a:srgbClr val="E5EDF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40680" y="1325880"/>
            <a:ext cx="64008" cy="310896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1463039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892807"/>
            <a:ext cx="2514600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F3A"/>
                </a:solidFill>
              </a:defRPr>
            </a:pPr>
            <a:r>
              <a:t>Random Forest</a:t>
            </a:r>
            <a:br/>
            <a:br/>
            <a:r>
              <a:t>Trained on the training data</a:t>
            </a:r>
            <a:br/>
            <a:br/>
            <a:r>
              <a:t>Generates a continuous appliance-energy prediction.</a:t>
            </a:r>
          </a:p>
        </p:txBody>
      </p:sp>
      <p:sp>
        <p:nvSpPr>
          <p:cNvPr id="14" name="Chevron 13"/>
          <p:cNvSpPr/>
          <p:nvPr/>
        </p:nvSpPr>
        <p:spPr>
          <a:xfrm>
            <a:off x="8458200" y="2395728"/>
            <a:ext cx="960120" cy="68580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55480" y="1325880"/>
            <a:ext cx="2011680" cy="3108960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555480" y="1325880"/>
            <a:ext cx="64008" cy="310896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38359" y="1463039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59" y="1892807"/>
            <a:ext cx="1691640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F3A"/>
                </a:solidFill>
              </a:defRPr>
            </a:pPr>
            <a:r>
              <a:t>Actual</a:t>
            </a:r>
            <a:br/>
            <a:r>
              <a:t>40 Wh</a:t>
            </a:r>
            <a:br/>
            <a:br/>
            <a:r>
              <a:t>Predicted</a:t>
            </a:r>
            <a:br/>
            <a:r>
              <a:t>52 Wh</a:t>
            </a:r>
            <a:br/>
            <a:br/>
            <a:r>
              <a:t>Error</a:t>
            </a:r>
            <a:br/>
            <a:r>
              <a:t>12 Wh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892040"/>
            <a:ext cx="8549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0" y="4892040"/>
            <a:ext cx="64008" cy="7772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11680" y="50292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A"/>
                </a:solidFill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45896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2F3A"/>
                </a:solidFill>
              </a:defRPr>
            </a:pPr>
            <a:r>
              <a:t>The model produces a close but not exact estimate, illustrating why regression metrics are needed to evaluate performance across many samples.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Results, Conclusion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What the model comparison tells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1874519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1874519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LOWEST MAE / 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154679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Random Forest: MAE 32.05 and RMSE 67.37 — the lowest test errors among the four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874519"/>
          </a:xfrm>
          <a:prstGeom prst="roundRect">
            <a:avLst/>
          </a:prstGeom>
          <a:solidFill>
            <a:srgbClr val="E5EDF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64008" cy="187451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STRONGEST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01368"/>
            <a:ext cx="3154679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Random Forest: R² 0.546 — strongest explanatory performance on the test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74720" cy="1874519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64008" cy="1874519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37160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ERROR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801368"/>
            <a:ext cx="3154679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62F3A"/>
                </a:solidFill>
              </a:defRPr>
            </a:pPr>
            <a:r>
              <a:t>Errors become wider at higher appliance-consumption levels, so high-use cases are harder to predict.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303520" cy="1965960"/>
          </a:xfrm>
          <a:prstGeom prst="roundRect">
            <a:avLst/>
          </a:prstGeom>
          <a:solidFill>
            <a:srgbClr val="FAE7E7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64008" cy="1965960"/>
          </a:xfrm>
          <a:prstGeom prst="rect">
            <a:avLst/>
          </a:prstGeom>
          <a:solidFill>
            <a:srgbClr val="B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566160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OVERFITTING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8"/>
            <a:ext cx="498348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2F3A"/>
                </a:solidFill>
              </a:defRPr>
            </a:pPr>
            <a:r>
              <a:t>Training: MAE 12.42 | RMSE 26.45 | R² 0.934</a:t>
            </a:r>
            <a:br/>
            <a:r>
              <a:t>Testing: MAE 32.05 | RMSE 67.37 | R² 0.546</a:t>
            </a:r>
            <a:br/>
            <a:br/>
            <a:r>
              <a:t>The large performance gap indicates overfitting.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290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429000"/>
            <a:ext cx="64008" cy="1965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566160"/>
            <a:ext cx="507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A"/>
                </a:solidFill>
              </a:defRPr>
            </a:pPr>
            <a:r>
              <a:t>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95928"/>
            <a:ext cx="507492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2F3A"/>
                </a:solidFill>
              </a:defRPr>
            </a:pPr>
            <a:r>
              <a:t>Random Forest is the strongest tested model, but it does not generalise perfectly. Hyperparameter tuning, better feature engineering and further validation could improve the final system.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Future Scope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7"/>
                </a:solidFill>
              </a:defRPr>
            </a:pPr>
            <a:r>
              <a:t>Next steps for improving and documenting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3520440"/>
          </a:xfrm>
          <a:prstGeom prst="roundRect">
            <a:avLst/>
          </a:prstGeom>
          <a:solidFill>
            <a:srgbClr val="FAEFDC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3520440"/>
          </a:xfrm>
          <a:prstGeom prst="rect">
            <a:avLst/>
          </a:prstGeom>
          <a:solidFill>
            <a:srgbClr val="DA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4937760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F3A"/>
                </a:solidFill>
              </a:defRPr>
            </a:pPr>
            <a:r>
              <a:t>• Tune Random Forest hyperparameters</a:t>
            </a:r>
            <a:br/>
            <a:r>
              <a:t>• Reduce overfitting and improve generalisation</a:t>
            </a:r>
            <a:br/>
            <a:r>
              <a:t>• Explore additional feature engineering</a:t>
            </a:r>
            <a:br/>
            <a:r>
              <a:t>• Investigate models better suited to high-consumption cases</a:t>
            </a:r>
            <a:br/>
            <a:r>
              <a:t>• Validate with cross-validation and further experiments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34440"/>
            <a:ext cx="5440680" cy="3520440"/>
          </a:xfrm>
          <a:prstGeom prst="roundRect">
            <a:avLst/>
          </a:prstGeom>
          <a:solidFill>
            <a:srgbClr val="E0F3E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64008" cy="3520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GITHUB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01368"/>
            <a:ext cx="512064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dirty="0"/>
              <a:t>• README.md with problem, dataset, methods and results</a:t>
            </a:r>
            <a:br>
              <a:rPr dirty="0"/>
            </a:br>
            <a:r>
              <a:rPr dirty="0"/>
              <a:t>• requirements.txt</a:t>
            </a:r>
            <a:br>
              <a:rPr dirty="0"/>
            </a:br>
            <a:r>
              <a:rPr dirty="0"/>
              <a:t>• Complete notebook/source code</a:t>
            </a:r>
            <a:br>
              <a:rPr dirty="0"/>
            </a:br>
            <a:r>
              <a:rPr dirty="0"/>
              <a:t>• Dataset or official download instructions</a:t>
            </a:r>
            <a:br>
              <a:rPr dirty="0"/>
            </a:br>
            <a:r>
              <a:rPr dirty="0"/>
              <a:t>• Meaningful plots / </a:t>
            </a:r>
            <a:r>
              <a:rPr dirty="0" err="1"/>
              <a:t>visualisations</a:t>
            </a:r>
            <a:br>
              <a:rPr dirty="0"/>
            </a:br>
            <a:r>
              <a:rPr dirty="0"/>
              <a:t>• Trained model file if saved</a:t>
            </a:r>
            <a:br>
              <a:rPr dirty="0"/>
            </a:br>
            <a:r>
              <a:rPr dirty="0"/>
              <a:t>• Final presentation</a:t>
            </a:r>
            <a:br>
              <a:rPr dirty="0"/>
            </a:br>
            <a:r>
              <a:rPr sz="1600" dirty="0"/>
              <a:t>Repository: </a:t>
            </a:r>
            <a:r>
              <a:rPr lang="en-IN" sz="1600" u="sng" dirty="0"/>
              <a:t>https://github.com/yuvrajtalukdarofficial-coder/IBM_PBEL_PROJECT.git</a:t>
            </a:r>
            <a:br>
              <a:rPr lang="en-IN" dirty="0"/>
            </a:br>
            <a:r>
              <a:rPr lang="en-IN" dirty="0"/>
              <a:t> </a:t>
            </a:r>
            <a:r>
              <a:rPr dirty="0"/>
              <a:t>___________________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166360"/>
            <a:ext cx="8549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0" y="5166360"/>
            <a:ext cx="64008" cy="731520"/>
          </a:xfrm>
          <a:prstGeom prst="rect">
            <a:avLst/>
          </a:prstGeom>
          <a:solidFill>
            <a:srgbClr val="2B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530352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A"/>
                </a:solidFill>
              </a:defRPr>
            </a:pPr>
            <a:r>
              <a:t>FINAL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73328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2F3A"/>
                </a:solidFill>
              </a:defRPr>
            </a:pPr>
            <a:r>
              <a:rPr dirty="0"/>
              <a:t>The project demonstrates the full ML lifecycle: prepare → explore → model → evaluate → interpret → predict → document.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7395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7"/>
                </a:solidFill>
              </a:defRPr>
            </a:pPr>
            <a:r>
              <a:t>SMART HOME ENERGY CONSUMPTION PREDICTION  •  YUVRAJ TALUKDAR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0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88FB0E-A674-1E7B-EC18-FB6ED445802E}"/>
              </a:ext>
            </a:extLst>
          </p:cNvPr>
          <p:cNvSpPr txBox="1"/>
          <p:nvPr/>
        </p:nvSpPr>
        <p:spPr>
          <a:xfrm>
            <a:off x="5301205" y="3206187"/>
            <a:ext cx="133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92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1350</Words>
  <Application>Microsoft Office PowerPoint</Application>
  <PresentationFormat>Widescreen</PresentationFormat>
  <Paragraphs>187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taluk</dc:creator>
  <cp:keywords/>
  <dc:description>generated using python-pptx</dc:description>
  <cp:lastModifiedBy>talukdaryuvraj8@gmail.com</cp:lastModifiedBy>
  <cp:revision>2</cp:revision>
  <dcterms:created xsi:type="dcterms:W3CDTF">2013-01-27T09:14:16Z</dcterms:created>
  <dcterms:modified xsi:type="dcterms:W3CDTF">2026-08-31T14:19:47Z</dcterms:modified>
  <cp:category/>
</cp:coreProperties>
</file>